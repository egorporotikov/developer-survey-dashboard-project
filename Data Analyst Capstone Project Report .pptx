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8"/>
  </p:notesMasterIdLst>
  <p:sldIdLst>
    <p:sldId id="256" r:id="rId5"/>
    <p:sldId id="257" r:id="rId6"/>
    <p:sldId id="258" r:id="rId7"/>
    <p:sldId id="259" r:id="rId8"/>
    <p:sldId id="260" r:id="rId9"/>
    <p:sldId id="278" r:id="rId10"/>
    <p:sldId id="274" r:id="rId11"/>
    <p:sldId id="275" r:id="rId12"/>
    <p:sldId id="262" r:id="rId13"/>
    <p:sldId id="263" r:id="rId14"/>
    <p:sldId id="264" r:id="rId15"/>
    <p:sldId id="265" r:id="rId16"/>
    <p:sldId id="266" r:id="rId17"/>
    <p:sldId id="267" r:id="rId18"/>
    <p:sldId id="279" r:id="rId19"/>
    <p:sldId id="268" r:id="rId20"/>
    <p:sldId id="280" r:id="rId21"/>
    <p:sldId id="269" r:id="rId22"/>
    <p:sldId id="281" r:id="rId23"/>
    <p:sldId id="270" r:id="rId24"/>
    <p:sldId id="271" r:id="rId25"/>
    <p:sldId id="272" r:id="rId26"/>
    <p:sldId id="273" r:id="rId27"/>
  </p:sldIdLst>
  <p:sldSz cx="12192000" cy="6858000"/>
  <p:notesSz cx="6858000" cy="1857375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44" userDrawn="1">
          <p15:clr>
            <a:srgbClr val="A4A3A4"/>
          </p15:clr>
        </p15:guide>
        <p15:guide id="2" pos="28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BD3AA52-0FB4-F6D0-6D07-1A3D2D9FD3FC}" name="Marianne Seidler" initials="MS" userId="S::mariannes@skillup.tech::bb0b4178-c940-4a9a-9c5e-e97bf5d50d86" providerId="AD"/>
  <p188:author id="{F554C3DC-94B8-9F7D-83FC-6D4CEC0DE845}" name="Dawn Teel-Friedman" initials="DTF" userId="Dawn Teel-Friedman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Beth Larsen" initials="BL" lastIdx="1" clrIdx="4">
    <p:extLst>
      <p:ext uri="{19B8F6BF-5375-455C-9EA6-DF929625EA0E}">
        <p15:presenceInfo xmlns:p15="http://schemas.microsoft.com/office/powerpoint/2012/main" userId="04edb8684ac0beb8" providerId="Windows Live"/>
      </p:ext>
    </p:extLst>
  </p:cmAuthor>
  <p:cmAuthor id="6" name="Matt Ockenfels" initials="MO" lastIdx="1" clrIdx="5">
    <p:extLst>
      <p:ext uri="{19B8F6BF-5375-455C-9EA6-DF929625EA0E}">
        <p15:presenceInfo xmlns:p15="http://schemas.microsoft.com/office/powerpoint/2012/main" userId="S::matto@skillup.tech::1f5f8b86-5465-4302-9a82-9a36d055e8b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7B49"/>
    <a:srgbClr val="E76F39"/>
    <a:srgbClr val="0072C3"/>
    <a:srgbClr val="007D79"/>
    <a:srgbClr val="D02670"/>
    <a:srgbClr val="231F20"/>
    <a:srgbClr val="33B1FF"/>
    <a:srgbClr val="262626"/>
    <a:srgbClr val="525252"/>
    <a:srgbClr val="BE9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13" autoAdjust="0"/>
    <p:restoredTop sz="91480" autoAdjust="0"/>
  </p:normalViewPr>
  <p:slideViewPr>
    <p:cSldViewPr snapToGrid="0">
      <p:cViewPr varScale="1">
        <p:scale>
          <a:sx n="73" d="100"/>
          <a:sy n="73" d="100"/>
        </p:scale>
        <p:origin x="43" y="82"/>
      </p:cViewPr>
      <p:guideLst>
        <p:guide orient="horz" pos="744"/>
        <p:guide pos="28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gs" Target="tags/tag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8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89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0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1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0,'6'0,"-4"6,-2 2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2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3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4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5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0-30T05:40:55.096"/>
    </inkml:context>
    <inkml:brush xml:id="br0">
      <inkml:brushProperty name="width" value="0.5" units="cm"/>
      <inkml:brushProperty name="height" value="1" units="cm"/>
      <inkml:brushProperty name="color" value="#FFFFFF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5/24/2026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/>
              <a:t> </a:t>
            </a: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3873" y="1168401"/>
            <a:ext cx="10964254" cy="2387600"/>
          </a:xfrm>
          <a:solidFill>
            <a:schemeClr val="bg2"/>
          </a:solidFill>
        </p:spPr>
        <p:txBody>
          <a:bodyPr anchor="b">
            <a:normAutofit/>
          </a:bodyPr>
          <a:lstStyle>
            <a:lvl1pPr algn="ctr">
              <a:defRPr sz="4800" b="0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8273" y="3731247"/>
            <a:ext cx="9135454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 b="0" i="0">
                <a:solidFill>
                  <a:srgbClr val="525252"/>
                </a:solidFill>
                <a:latin typeface="IBM Plex Sans" panose="020B050305020300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2880360" y="3649111"/>
            <a:ext cx="6431280" cy="0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>
            <a:spLocks noChangeArrowheads="1"/>
          </p:cNvSpPr>
          <p:nvPr/>
        </p:nvSpPr>
        <p:spPr bwMode="black">
          <a:xfrm>
            <a:off x="4093580" y="5537419"/>
            <a:ext cx="4004840" cy="3043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400" b="0">
                <a:solidFill>
                  <a:srgbClr val="000000"/>
                </a:solidFill>
                <a:latin typeface="Helv"/>
              </a:rPr>
              <a:t>© IBM Corporation. All rights reserved.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5BAB42-A6B6-D2DB-EC91-721CA287B900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D9DAF80D-4D83-4EA4-3B9A-B4DEAA21CF43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11" name="Graphic 10" hidden="1">
              <a:extLst>
                <a:ext uri="{FF2B5EF4-FFF2-40B4-BE49-F238E27FC236}">
                  <a16:creationId xmlns:a16="http://schemas.microsoft.com/office/drawing/2014/main" id="{AA1B3EED-0A38-9B4D-C031-B7CFB1F16CD2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12" name="Graphic 11" hidden="1">
              <a:extLst>
                <a:ext uri="{FF2B5EF4-FFF2-40B4-BE49-F238E27FC236}">
                  <a16:creationId xmlns:a16="http://schemas.microsoft.com/office/drawing/2014/main" id="{D8BA40FF-052F-CEA2-8570-24062BFE0A7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13" name="Graphic 12" hidden="1">
              <a:extLst>
                <a:ext uri="{FF2B5EF4-FFF2-40B4-BE49-F238E27FC236}">
                  <a16:creationId xmlns:a16="http://schemas.microsoft.com/office/drawing/2014/main" id="{10305589-4F05-9658-71A7-2F6E7BFE9524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14" name="Graphic 13">
            <a:extLst>
              <a:ext uri="{FF2B5EF4-FFF2-40B4-BE49-F238E27FC236}">
                <a16:creationId xmlns:a16="http://schemas.microsoft.com/office/drawing/2014/main" id="{EEFE9B80-1CD0-9614-4D99-C0FA5B74A8B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36152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2525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199"/>
            <a:ext cx="107442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262626"/>
                </a:solidFill>
              </a:defRPr>
            </a:lvl4pPr>
            <a:lvl5pPr>
              <a:defRPr>
                <a:solidFill>
                  <a:srgbClr val="262626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38200" y="1296645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9702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solidFill>
                  <a:srgbClr val="525252"/>
                </a:solidFill>
                <a:latin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181600" cy="4572000"/>
          </a:xfrm>
        </p:spPr>
        <p:txBody>
          <a:bodyPr/>
          <a:lstStyle>
            <a:lvl1pPr>
              <a:defRPr>
                <a:solidFill>
                  <a:srgbClr val="262626"/>
                </a:solidFill>
              </a:defRPr>
            </a:lvl1pPr>
            <a:lvl2pPr>
              <a:defRPr>
                <a:solidFill>
                  <a:srgbClr val="262626"/>
                </a:solidFill>
              </a:defRPr>
            </a:lvl2pPr>
            <a:lvl3pPr>
              <a:defRPr>
                <a:solidFill>
                  <a:srgbClr val="262626"/>
                </a:solidFill>
              </a:defRPr>
            </a:lvl3pPr>
            <a:lvl4pPr>
              <a:defRPr>
                <a:solidFill>
                  <a:srgbClr val="525252"/>
                </a:solidFill>
              </a:defRPr>
            </a:lvl4pPr>
            <a:lvl5pPr>
              <a:defRPr>
                <a:solidFill>
                  <a:srgbClr val="52525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838200" y="1364249"/>
            <a:ext cx="10515600" cy="368"/>
          </a:xfrm>
          <a:prstGeom prst="line">
            <a:avLst/>
          </a:prstGeom>
          <a:ln>
            <a:solidFill>
              <a:srgbClr val="6C4DE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71343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custDataLst>
      <p:tags r:id="rId1"/>
    </p:custDataLst>
    <p:extLst>
      <p:ext uri="{BB962C8B-B14F-4D97-AF65-F5344CB8AC3E}">
        <p14:creationId xmlns:p14="http://schemas.microsoft.com/office/powerpoint/2010/main" val="7934645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800" b="1" i="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73270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72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478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pic>
        <p:nvPicPr>
          <p:cNvPr id="12" name="Picture 11" descr="Text, logo&#10;&#10;Description automatically generated">
            <a:extLst>
              <a:ext uri="{FF2B5EF4-FFF2-40B4-BE49-F238E27FC236}">
                <a16:creationId xmlns:a16="http://schemas.microsoft.com/office/drawing/2014/main" id="{05161552-D656-B925-AB2F-4CA5F6FE72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alphaModFix amt="5000"/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saturation sat="155000"/>
                    </a14:imgEffect>
                    <a14:imgEffect>
                      <a14:brightnessContrast contrast="-77000"/>
                    </a14:imgEffect>
                  </a14:imgLayer>
                </a14:imgProps>
              </a:ext>
            </a:extLst>
          </a:blip>
          <a:srcRect l="-1923" r="70315"/>
          <a:stretch/>
        </p:blipFill>
        <p:spPr>
          <a:xfrm>
            <a:off x="3345127" y="1418811"/>
            <a:ext cx="5501746" cy="482613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E377BDD-6725-68B2-639C-E47C9B4601F2}"/>
              </a:ext>
            </a:extLst>
          </p:cNvPr>
          <p:cNvSpPr/>
          <p:nvPr userDrawn="1"/>
        </p:nvSpPr>
        <p:spPr>
          <a:xfrm>
            <a:off x="12625444" y="2728308"/>
            <a:ext cx="1235879" cy="1235878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771CE0-19C9-5FCF-1B71-ACF36DEE6664}"/>
              </a:ext>
            </a:extLst>
          </p:cNvPr>
          <p:cNvSpPr/>
          <p:nvPr userDrawn="1"/>
        </p:nvSpPr>
        <p:spPr>
          <a:xfrm>
            <a:off x="18071881" y="2728308"/>
            <a:ext cx="1235879" cy="1235878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A3F44-3AAC-9557-E214-F323108F6B65}"/>
              </a:ext>
            </a:extLst>
          </p:cNvPr>
          <p:cNvSpPr/>
          <p:nvPr userDrawn="1"/>
        </p:nvSpPr>
        <p:spPr>
          <a:xfrm>
            <a:off x="14440923" y="2728308"/>
            <a:ext cx="1235879" cy="1235878"/>
          </a:xfrm>
          <a:prstGeom prst="rect">
            <a:avLst/>
          </a:prstGeom>
          <a:solidFill>
            <a:srgbClr val="FF7EB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#FF7EB6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EA0613-E945-E437-C733-F9F008F63B76}"/>
              </a:ext>
            </a:extLst>
          </p:cNvPr>
          <p:cNvSpPr/>
          <p:nvPr userDrawn="1"/>
        </p:nvSpPr>
        <p:spPr>
          <a:xfrm>
            <a:off x="16256402" y="2728308"/>
            <a:ext cx="1235879" cy="1235878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EC5687-C25A-A73E-5192-674F560F89FA}"/>
              </a:ext>
            </a:extLst>
          </p:cNvPr>
          <p:cNvSpPr txBox="1"/>
          <p:nvPr userDrawn="1"/>
        </p:nvSpPr>
        <p:spPr>
          <a:xfrm>
            <a:off x="12602453" y="3912427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1F4021-33FE-506B-3C0D-688FEF669647}"/>
              </a:ext>
            </a:extLst>
          </p:cNvPr>
          <p:cNvSpPr txBox="1"/>
          <p:nvPr userDrawn="1"/>
        </p:nvSpPr>
        <p:spPr>
          <a:xfrm>
            <a:off x="14334144" y="3912427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6B112C-C780-5B47-83AA-D580E668C866}"/>
              </a:ext>
            </a:extLst>
          </p:cNvPr>
          <p:cNvSpPr txBox="1"/>
          <p:nvPr userDrawn="1"/>
        </p:nvSpPr>
        <p:spPr>
          <a:xfrm>
            <a:off x="16404771" y="3912427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2FC597-9201-21C6-383D-67750826F14D}"/>
              </a:ext>
            </a:extLst>
          </p:cNvPr>
          <p:cNvSpPr txBox="1"/>
          <p:nvPr userDrawn="1"/>
        </p:nvSpPr>
        <p:spPr>
          <a:xfrm>
            <a:off x="18206642" y="3912427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40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4A6D56-917B-72D3-81F7-A59A36FC4198}"/>
              </a:ext>
            </a:extLst>
          </p:cNvPr>
          <p:cNvSpPr/>
          <p:nvPr userDrawn="1"/>
        </p:nvSpPr>
        <p:spPr>
          <a:xfrm>
            <a:off x="12625444" y="4418033"/>
            <a:ext cx="1235879" cy="1235878"/>
          </a:xfrm>
          <a:prstGeom prst="rect">
            <a:avLst/>
          </a:prstGeom>
          <a:solidFill>
            <a:srgbClr val="8A3FFC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#8A3FFC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512372-0859-45E3-8DD7-AE730B4AFD19}"/>
              </a:ext>
            </a:extLst>
          </p:cNvPr>
          <p:cNvSpPr/>
          <p:nvPr userDrawn="1"/>
        </p:nvSpPr>
        <p:spPr>
          <a:xfrm>
            <a:off x="18071881" y="4418033"/>
            <a:ext cx="1235879" cy="1235878"/>
          </a:xfrm>
          <a:prstGeom prst="rect">
            <a:avLst/>
          </a:prstGeom>
          <a:solidFill>
            <a:srgbClr val="0072C3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#0072C3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197D57-5F46-DB39-F81D-9205CC53189F}"/>
              </a:ext>
            </a:extLst>
          </p:cNvPr>
          <p:cNvSpPr/>
          <p:nvPr userDrawn="1"/>
        </p:nvSpPr>
        <p:spPr>
          <a:xfrm>
            <a:off x="14440923" y="4418033"/>
            <a:ext cx="1235879" cy="1235878"/>
          </a:xfrm>
          <a:prstGeom prst="rect">
            <a:avLst/>
          </a:prstGeom>
          <a:solidFill>
            <a:srgbClr val="D02670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#D02670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70AA9B1-D6E7-98E2-49EF-C98B6F0E7E2F}"/>
              </a:ext>
            </a:extLst>
          </p:cNvPr>
          <p:cNvSpPr/>
          <p:nvPr userDrawn="1"/>
        </p:nvSpPr>
        <p:spPr>
          <a:xfrm>
            <a:off x="16256402" y="4418033"/>
            <a:ext cx="1235879" cy="1235878"/>
          </a:xfrm>
          <a:prstGeom prst="rect">
            <a:avLst/>
          </a:prstGeom>
          <a:solidFill>
            <a:srgbClr val="007D7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#007D79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A9DFA7-88D2-04F7-451C-7A2C388B178F}"/>
              </a:ext>
            </a:extLst>
          </p:cNvPr>
          <p:cNvSpPr txBox="1"/>
          <p:nvPr userDrawn="1"/>
        </p:nvSpPr>
        <p:spPr>
          <a:xfrm>
            <a:off x="12602453" y="5602152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C98F8E-1DCD-3647-3613-DFFC7CDFF372}"/>
              </a:ext>
            </a:extLst>
          </p:cNvPr>
          <p:cNvSpPr txBox="1"/>
          <p:nvPr userDrawn="1"/>
        </p:nvSpPr>
        <p:spPr>
          <a:xfrm>
            <a:off x="14334144" y="5602152"/>
            <a:ext cx="1448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29F1073-373D-249D-C1F2-A527EB0210C9}"/>
              </a:ext>
            </a:extLst>
          </p:cNvPr>
          <p:cNvSpPr txBox="1"/>
          <p:nvPr userDrawn="1"/>
        </p:nvSpPr>
        <p:spPr>
          <a:xfrm>
            <a:off x="16404771" y="5602152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12B31A-8903-A616-B756-B8695FC8F38A}"/>
              </a:ext>
            </a:extLst>
          </p:cNvPr>
          <p:cNvSpPr txBox="1"/>
          <p:nvPr userDrawn="1"/>
        </p:nvSpPr>
        <p:spPr>
          <a:xfrm>
            <a:off x="18206642" y="5602152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60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892CDF-E500-AD18-C0DB-5405AF35ADE4}"/>
              </a:ext>
            </a:extLst>
          </p:cNvPr>
          <p:cNvSpPr/>
          <p:nvPr userDrawn="1"/>
        </p:nvSpPr>
        <p:spPr>
          <a:xfrm>
            <a:off x="19512379" y="2712316"/>
            <a:ext cx="1267863" cy="1267862"/>
          </a:xfrm>
          <a:prstGeom prst="rect">
            <a:avLst/>
          </a:prstGeom>
          <a:solidFill>
            <a:srgbClr val="121619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FFFFFF"/>
                </a:solidFill>
                <a:effectLst/>
                <a:latin typeface="IBM Plex Mono" panose="020B0509050203000203" pitchFamily="49" charset="0"/>
              </a:rPr>
              <a:t>000000</a:t>
            </a:r>
            <a:endParaRPr lang="en-US" dirty="0">
              <a:solidFill>
                <a:schemeClr val="bg2"/>
              </a:solidFill>
              <a:latin typeface="IBM Plex Sans" panose="020B0503050203000203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ACF072D-B1FC-4829-B71E-556F57965D46}"/>
              </a:ext>
            </a:extLst>
          </p:cNvPr>
          <p:cNvSpPr/>
          <p:nvPr userDrawn="1"/>
        </p:nvSpPr>
        <p:spPr>
          <a:xfrm>
            <a:off x="19510690" y="4403963"/>
            <a:ext cx="1264019" cy="1264018"/>
          </a:xfrm>
          <a:prstGeom prst="rect">
            <a:avLst/>
          </a:prstGeom>
          <a:solidFill>
            <a:srgbClr val="FFFF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Icon</a:t>
            </a:r>
          </a:p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</a:t>
            </a:r>
            <a:r>
              <a:rPr lang="en-US" b="0" i="0" dirty="0">
                <a:solidFill>
                  <a:srgbClr val="262626"/>
                </a:solidFill>
                <a:effectLst/>
                <a:latin typeface="IBM Plex Mono" panose="020B0509050203000203" pitchFamily="49" charset="0"/>
              </a:rPr>
              <a:t>FFFFFF</a:t>
            </a:r>
            <a:endParaRPr lang="en-US" dirty="0">
              <a:solidFill>
                <a:srgbClr val="262626"/>
              </a:solidFill>
              <a:latin typeface="IBM Plex Sans" panose="020B0503050203000203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8BBA60-CCFF-F95A-ECC9-46204EA2214B}"/>
              </a:ext>
            </a:extLst>
          </p:cNvPr>
          <p:cNvSpPr/>
          <p:nvPr userDrawn="1"/>
        </p:nvSpPr>
        <p:spPr>
          <a:xfrm>
            <a:off x="12625444" y="1072749"/>
            <a:ext cx="1235879" cy="1235878"/>
          </a:xfrm>
          <a:prstGeom prst="rect">
            <a:avLst/>
          </a:prstGeom>
          <a:solidFill>
            <a:srgbClr val="F6F2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#F6F2FF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F05CFF-A449-FBB3-5F13-F7A72C2E43DE}"/>
              </a:ext>
            </a:extLst>
          </p:cNvPr>
          <p:cNvSpPr/>
          <p:nvPr userDrawn="1"/>
        </p:nvSpPr>
        <p:spPr>
          <a:xfrm>
            <a:off x="18071881" y="1072749"/>
            <a:ext cx="1235879" cy="1235878"/>
          </a:xfrm>
          <a:prstGeom prst="rect">
            <a:avLst/>
          </a:prstGeom>
          <a:solidFill>
            <a:srgbClr val="E5F6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#E5F6FF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4895BC4-B52A-2D00-62C1-71A44604BBB4}"/>
              </a:ext>
            </a:extLst>
          </p:cNvPr>
          <p:cNvSpPr/>
          <p:nvPr userDrawn="1"/>
        </p:nvSpPr>
        <p:spPr>
          <a:xfrm>
            <a:off x="14440923" y="1072749"/>
            <a:ext cx="1235879" cy="1235878"/>
          </a:xfrm>
          <a:prstGeom prst="rect">
            <a:avLst/>
          </a:prstGeom>
          <a:solidFill>
            <a:srgbClr val="FFF0F7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#FFF0F7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5B5B6C5-97CB-45FD-FDEC-1F5C2A0BDC3E}"/>
              </a:ext>
            </a:extLst>
          </p:cNvPr>
          <p:cNvSpPr/>
          <p:nvPr userDrawn="1"/>
        </p:nvSpPr>
        <p:spPr>
          <a:xfrm>
            <a:off x="16256402" y="1072749"/>
            <a:ext cx="1235879" cy="1235878"/>
          </a:xfrm>
          <a:prstGeom prst="rect">
            <a:avLst/>
          </a:prstGeom>
          <a:solidFill>
            <a:srgbClr val="D9FBFB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262626"/>
                </a:solidFill>
                <a:latin typeface="IBM Plex Sans" panose="020B0503050203000203" pitchFamily="34" charset="0"/>
              </a:rPr>
              <a:t>#D9FBFB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4DCC439-D448-E0FC-26EF-94C7A8B8D0DB}"/>
              </a:ext>
            </a:extLst>
          </p:cNvPr>
          <p:cNvSpPr txBox="1"/>
          <p:nvPr userDrawn="1"/>
        </p:nvSpPr>
        <p:spPr>
          <a:xfrm>
            <a:off x="12602453" y="2256868"/>
            <a:ext cx="1237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FFFFFF"/>
                </a:solidFill>
                <a:effectLst/>
              </a:rPr>
              <a:t>Purple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04B7B48-2E66-50BA-96FE-D24C4E60BFD7}"/>
              </a:ext>
            </a:extLst>
          </p:cNvPr>
          <p:cNvSpPr txBox="1"/>
          <p:nvPr userDrawn="1"/>
        </p:nvSpPr>
        <p:spPr>
          <a:xfrm>
            <a:off x="14334144" y="2256868"/>
            <a:ext cx="1449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Magenta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7C767BF-EB72-86A2-DBA6-0D26C6C02894}"/>
              </a:ext>
            </a:extLst>
          </p:cNvPr>
          <p:cNvSpPr txBox="1"/>
          <p:nvPr userDrawn="1"/>
        </p:nvSpPr>
        <p:spPr>
          <a:xfrm>
            <a:off x="16404771" y="2256868"/>
            <a:ext cx="9663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Teal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EDF829-6CB0-F03B-E025-85D510B4DC26}"/>
              </a:ext>
            </a:extLst>
          </p:cNvPr>
          <p:cNvSpPr txBox="1"/>
          <p:nvPr userDrawn="1"/>
        </p:nvSpPr>
        <p:spPr>
          <a:xfrm>
            <a:off x="18206642" y="2256868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FFFF"/>
                </a:solidFill>
              </a:rPr>
              <a:t>Cyan</a:t>
            </a:r>
            <a:r>
              <a:rPr lang="en-US" b="1" i="0" dirty="0">
                <a:solidFill>
                  <a:srgbClr val="FFFFFF"/>
                </a:solidFill>
                <a:effectLst/>
              </a:rPr>
              <a:t> 10</a:t>
            </a:r>
            <a:endParaRPr lang="en-US" b="1" dirty="0">
              <a:solidFill>
                <a:srgbClr val="FFFFFF"/>
              </a:solidFill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FF97BF5-A64D-02F2-4B04-BC95CE39DF3F}"/>
              </a:ext>
            </a:extLst>
          </p:cNvPr>
          <p:cNvSpPr/>
          <p:nvPr userDrawn="1"/>
        </p:nvSpPr>
        <p:spPr>
          <a:xfrm>
            <a:off x="16222135" y="-2341897"/>
            <a:ext cx="1267863" cy="1267862"/>
          </a:xfrm>
          <a:prstGeom prst="rect">
            <a:avLst/>
          </a:prstGeom>
          <a:solidFill>
            <a:srgbClr val="C1C7CD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#C1C7CD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3738F9B-27C5-3C49-8FD7-0731EE9AC3BF}"/>
              </a:ext>
            </a:extLst>
          </p:cNvPr>
          <p:cNvSpPr/>
          <p:nvPr userDrawn="1"/>
        </p:nvSpPr>
        <p:spPr>
          <a:xfrm>
            <a:off x="16222135" y="-801901"/>
            <a:ext cx="1267863" cy="1267862"/>
          </a:xfrm>
          <a:prstGeom prst="rect">
            <a:avLst/>
          </a:prstGeom>
          <a:solidFill>
            <a:srgbClr val="F2F4F8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#F2F4F8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A7194F16-D83C-3057-9151-A884EA8F0931}"/>
              </a:ext>
            </a:extLst>
          </p:cNvPr>
          <p:cNvSpPr/>
          <p:nvPr userDrawn="1"/>
        </p:nvSpPr>
        <p:spPr>
          <a:xfrm>
            <a:off x="14397282" y="-2352139"/>
            <a:ext cx="1267863" cy="1267862"/>
          </a:xfrm>
          <a:prstGeom prst="rect">
            <a:avLst/>
          </a:prstGeom>
          <a:solidFill>
            <a:srgbClr val="BE95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#BE95FF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0C7A661-0FF9-B849-2771-84AA24CF5EFF}"/>
              </a:ext>
            </a:extLst>
          </p:cNvPr>
          <p:cNvSpPr/>
          <p:nvPr userDrawn="1"/>
        </p:nvSpPr>
        <p:spPr>
          <a:xfrm>
            <a:off x="14397282" y="-812143"/>
            <a:ext cx="1267863" cy="1267862"/>
          </a:xfrm>
          <a:prstGeom prst="rect">
            <a:avLst/>
          </a:prstGeom>
          <a:solidFill>
            <a:srgbClr val="33B1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#33B1FF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84675A9-3F9A-460D-D8D6-C5D9516859D4}"/>
              </a:ext>
            </a:extLst>
          </p:cNvPr>
          <p:cNvSpPr/>
          <p:nvPr userDrawn="1"/>
        </p:nvSpPr>
        <p:spPr>
          <a:xfrm>
            <a:off x="12572429" y="-2309174"/>
            <a:ext cx="1267863" cy="1267862"/>
          </a:xfrm>
          <a:prstGeom prst="rect">
            <a:avLst/>
          </a:prstGeom>
          <a:solidFill>
            <a:srgbClr val="08BDBA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#08BDBA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D8C7787-7D0E-ED5D-DB99-53C4B52AA8F2}"/>
              </a:ext>
            </a:extLst>
          </p:cNvPr>
          <p:cNvSpPr/>
          <p:nvPr userDrawn="1"/>
        </p:nvSpPr>
        <p:spPr>
          <a:xfrm>
            <a:off x="12572429" y="-769178"/>
            <a:ext cx="1267863" cy="1267862"/>
          </a:xfrm>
          <a:prstGeom prst="rect">
            <a:avLst/>
          </a:prstGeom>
          <a:solidFill>
            <a:srgbClr val="78A9FF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Text BG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IBM Plex Sans" panose="020B0503050203000203" pitchFamily="34" charset="0"/>
              </a:rPr>
              <a:t>#78A9FF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0CCBF62-5F94-E366-51BD-6C8DCBF90955}"/>
              </a:ext>
            </a:extLst>
          </p:cNvPr>
          <p:cNvSpPr/>
          <p:nvPr userDrawn="1"/>
        </p:nvSpPr>
        <p:spPr>
          <a:xfrm>
            <a:off x="17993876" y="-2309174"/>
            <a:ext cx="1267863" cy="1267862"/>
          </a:xfrm>
          <a:prstGeom prst="rect">
            <a:avLst/>
          </a:prstGeom>
          <a:solidFill>
            <a:srgbClr val="525252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Labels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#525252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5880850-0EBA-AD14-E6FD-BB1DC94F3DA5}"/>
              </a:ext>
            </a:extLst>
          </p:cNvPr>
          <p:cNvSpPr/>
          <p:nvPr userDrawn="1"/>
        </p:nvSpPr>
        <p:spPr>
          <a:xfrm>
            <a:off x="17993875" y="-812143"/>
            <a:ext cx="1267863" cy="1267862"/>
          </a:xfrm>
          <a:prstGeom prst="rect">
            <a:avLst/>
          </a:prstGeom>
          <a:solidFill>
            <a:srgbClr val="262626"/>
          </a:solidFill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Text</a:t>
            </a:r>
          </a:p>
          <a:p>
            <a:pPr algn="ctr"/>
            <a:r>
              <a:rPr lang="en-US" dirty="0">
                <a:solidFill>
                  <a:schemeClr val="bg2"/>
                </a:solidFill>
                <a:latin typeface="IBM Plex Sans" panose="020B0503050203000203" pitchFamily="34" charset="0"/>
              </a:rPr>
              <a:t>#262626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56209ACE-A4F7-EAC9-E98F-D141BE77F994}"/>
              </a:ext>
            </a:extLst>
          </p:cNvPr>
          <p:cNvGrpSpPr/>
          <p:nvPr userDrawn="1"/>
        </p:nvGrpSpPr>
        <p:grpSpPr>
          <a:xfrm>
            <a:off x="11094856" y="6244940"/>
            <a:ext cx="1098532" cy="613059"/>
            <a:chOff x="8965342" y="4231217"/>
            <a:chExt cx="1608171" cy="897474"/>
          </a:xfrm>
        </p:grpSpPr>
        <p:pic>
          <p:nvPicPr>
            <p:cNvPr id="60" name="Graphic 59">
              <a:extLst>
                <a:ext uri="{FF2B5EF4-FFF2-40B4-BE49-F238E27FC236}">
                  <a16:creationId xmlns:a16="http://schemas.microsoft.com/office/drawing/2014/main" id="{EFEE4105-67FB-F40B-E7BD-8C9B80C32F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9321121" y="4418033"/>
              <a:ext cx="897474" cy="355817"/>
            </a:xfrm>
            <a:prstGeom prst="rect">
              <a:avLst/>
            </a:prstGeom>
          </p:spPr>
        </p:pic>
        <p:pic>
          <p:nvPicPr>
            <p:cNvPr id="61" name="Graphic 60" hidden="1">
              <a:extLst>
                <a:ext uri="{FF2B5EF4-FFF2-40B4-BE49-F238E27FC236}">
                  <a16:creationId xmlns:a16="http://schemas.microsoft.com/office/drawing/2014/main" id="{9AB2407C-B3E2-DCDD-0692-DD32E3C452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9321121" y="4772874"/>
              <a:ext cx="897474" cy="355817"/>
            </a:xfrm>
            <a:prstGeom prst="rect">
              <a:avLst/>
            </a:prstGeom>
          </p:spPr>
        </p:pic>
        <p:pic>
          <p:nvPicPr>
            <p:cNvPr id="62" name="Graphic 61" hidden="1">
              <a:extLst>
                <a:ext uri="{FF2B5EF4-FFF2-40B4-BE49-F238E27FC236}">
                  <a16:creationId xmlns:a16="http://schemas.microsoft.com/office/drawing/2014/main" id="{9128FFA9-E729-6051-FE44-5C57854D2B9B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9946868" y="4502045"/>
              <a:ext cx="897474" cy="355817"/>
            </a:xfrm>
            <a:prstGeom prst="rect">
              <a:avLst/>
            </a:prstGeom>
          </p:spPr>
        </p:pic>
        <p:pic>
          <p:nvPicPr>
            <p:cNvPr id="63" name="Graphic 62" hidden="1">
              <a:extLst>
                <a:ext uri="{FF2B5EF4-FFF2-40B4-BE49-F238E27FC236}">
                  <a16:creationId xmlns:a16="http://schemas.microsoft.com/office/drawing/2014/main" id="{21D1BE07-55D7-FEB6-D90F-FC214DFBDA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6200000">
              <a:off x="8694514" y="4502045"/>
              <a:ext cx="897474" cy="355817"/>
            </a:xfrm>
            <a:prstGeom prst="rect">
              <a:avLst/>
            </a:prstGeom>
          </p:spPr>
        </p:pic>
      </p:grpSp>
      <p:pic>
        <p:nvPicPr>
          <p:cNvPr id="66" name="Graphic 65">
            <a:extLst>
              <a:ext uri="{FF2B5EF4-FFF2-40B4-BE49-F238E27FC236}">
                <a16:creationId xmlns:a16="http://schemas.microsoft.com/office/drawing/2014/main" id="{FD0E63E5-36ED-0A5F-F2A0-E31AD11555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41053" y="6372101"/>
            <a:ext cx="1630680" cy="247650"/>
          </a:xfrm>
          <a:prstGeom prst="rect">
            <a:avLst/>
          </a:prstGeom>
        </p:spPr>
      </p:pic>
      <p:sp>
        <p:nvSpPr>
          <p:cNvPr id="67" name="Rectangle 66" hidden="1">
            <a:extLst>
              <a:ext uri="{FF2B5EF4-FFF2-40B4-BE49-F238E27FC236}">
                <a16:creationId xmlns:a16="http://schemas.microsoft.com/office/drawing/2014/main" id="{04EE5960-43EB-4B14-0782-2876BE85A607}"/>
              </a:ext>
            </a:extLst>
          </p:cNvPr>
          <p:cNvSpPr/>
          <p:nvPr userDrawn="1"/>
        </p:nvSpPr>
        <p:spPr>
          <a:xfrm>
            <a:off x="-76201" y="6356350"/>
            <a:ext cx="12353925" cy="276797"/>
          </a:xfrm>
          <a:prstGeom prst="rect">
            <a:avLst/>
          </a:prstGeom>
          <a:noFill/>
          <a:ln w="28575"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custDataLst>
      <p:tags r:id="rId8"/>
    </p:custDataLst>
    <p:extLst>
      <p:ext uri="{BB962C8B-B14F-4D97-AF65-F5344CB8AC3E}">
        <p14:creationId xmlns:p14="http://schemas.microsoft.com/office/powerpoint/2010/main" val="1270442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6" r:id="rId4"/>
    <p:sldLayoutId id="2147483667" r:id="rId5"/>
    <p:sldLayoutId id="214748367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rgbClr val="525252"/>
          </a:solidFill>
          <a:latin typeface="IBM Plex Sans SemiBold" panose="020B0503050203000203" pitchFamily="34" charset="0"/>
          <a:ea typeface="IBM Plex Sans SemiBold" panose="020B0503050203000203" pitchFamily="34" charset="0"/>
          <a:cs typeface="IBM Plex Sans SemiBold" panose="020B050305020300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rgbClr val="262626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customXml" Target="../ink/ink8.xml"/><Relationship Id="rId3" Type="http://schemas.openxmlformats.org/officeDocument/2006/relationships/image" Target="../media/image6.png"/><Relationship Id="rId7" Type="http://schemas.openxmlformats.org/officeDocument/2006/relationships/customXml" Target="../ink/ink3.xml"/><Relationship Id="rId12" Type="http://schemas.openxmlformats.org/officeDocument/2006/relationships/customXml" Target="../ink/ink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customXml" Target="../ink/ink2.xml"/><Relationship Id="rId11" Type="http://schemas.openxmlformats.org/officeDocument/2006/relationships/customXml" Target="../ink/ink6.xml"/><Relationship Id="rId5" Type="http://schemas.openxmlformats.org/officeDocument/2006/relationships/image" Target="../media/image10.png"/><Relationship Id="rId10" Type="http://schemas.openxmlformats.org/officeDocument/2006/relationships/customXml" Target="../ink/ink5.xml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4" Type="http://schemas.openxmlformats.org/officeDocument/2006/relationships/customXml" Target="../ink/ink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D5631-0297-E86E-7069-C969B141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162"/>
            <a:ext cx="10515600" cy="611620"/>
          </a:xfrm>
        </p:spPr>
        <p:txBody>
          <a:bodyPr anchor="ctr">
            <a:noAutofit/>
          </a:bodyPr>
          <a:lstStyle/>
          <a:p>
            <a:r>
              <a:rPr lang="en-GB" dirty="0"/>
              <a:t>Data Analyst Capstone Project Report</a:t>
            </a:r>
            <a:r>
              <a:rPr lang="en-GB" b="0" dirty="0"/>
              <a:t>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DF6B8D-2BAC-11F8-7D28-B631D08C8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Porotikov Egor</a:t>
            </a:r>
          </a:p>
          <a:p>
            <a:pPr marL="0" indent="0">
              <a:buNone/>
            </a:pPr>
            <a:r>
              <a:rPr lang="en-US" dirty="0">
                <a:solidFill>
                  <a:schemeClr val="bg1">
                    <a:lumMod val="75000"/>
                  </a:schemeClr>
                </a:solidFill>
                <a:latin typeface="IBM Plex Mono Medium" panose="020B0609050203000203" pitchFamily="49" charset="0"/>
              </a:rPr>
              <a:t>25.05.2026 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23E2C-8982-861D-BE1D-3E30E5CC43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9811" y="1600200"/>
            <a:ext cx="5038015" cy="4572000"/>
          </a:xfrm>
          <a:prstGeom prst="rect">
            <a:avLst/>
          </a:prstGeom>
          <a:noFill/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730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13BC838-B25A-D37F-BC71-DD617895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711" y="2025672"/>
            <a:ext cx="3194581" cy="3194581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C79264-7E04-A135-9158-F7EF333AC3D8}"/>
              </a:ext>
            </a:extLst>
          </p:cNvPr>
          <p:cNvSpPr txBox="1">
            <a:spLocks/>
          </p:cNvSpPr>
          <p:nvPr/>
        </p:nvSpPr>
        <p:spPr>
          <a:xfrm>
            <a:off x="782054" y="263810"/>
            <a:ext cx="850852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525252"/>
                </a:solidFill>
                <a:latin typeface="IBM Plex Sans SemiBold" panose="020B0503050203000203" pitchFamily="34" charset="0"/>
                <a:ea typeface="IBM Plex Sans SemiBold" panose="020B0503050203000203" pitchFamily="34" charset="0"/>
                <a:cs typeface="IBM Plex Sans SemiBold" panose="020B0503050203000203" pitchFamily="34" charset="0"/>
              </a:defRPr>
            </a:lvl1pPr>
          </a:lstStyle>
          <a:p>
            <a:r>
              <a:rPr lang="en-US"/>
              <a:t>OUTLINE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639434-C7DB-C6DD-28C9-5FE3588C5BC8}"/>
              </a:ext>
            </a:extLst>
          </p:cNvPr>
          <p:cNvSpPr txBox="1">
            <a:spLocks/>
          </p:cNvSpPr>
          <p:nvPr/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dirty="0"/>
              <a:t>Executive Summary</a:t>
            </a:r>
          </a:p>
          <a:p>
            <a:r>
              <a:rPr lang="en-US" sz="2200" dirty="0"/>
              <a:t>Introduction</a:t>
            </a:r>
          </a:p>
          <a:p>
            <a:r>
              <a:rPr lang="en-US" sz="2200" dirty="0"/>
              <a:t>Methodology</a:t>
            </a:r>
          </a:p>
          <a:p>
            <a:r>
              <a:rPr lang="en-US" sz="2200" dirty="0"/>
              <a:t>Results</a:t>
            </a:r>
          </a:p>
          <a:p>
            <a:pPr lvl="1"/>
            <a:r>
              <a:rPr lang="en-US" sz="1800" dirty="0"/>
              <a:t>Visualization – Charts</a:t>
            </a:r>
          </a:p>
          <a:p>
            <a:pPr lvl="1"/>
            <a:r>
              <a:rPr lang="en-US" sz="1800" dirty="0"/>
              <a:t>Dashboard</a:t>
            </a:r>
          </a:p>
          <a:p>
            <a:r>
              <a:rPr lang="en-US" sz="2200" dirty="0"/>
              <a:t>Discussion</a:t>
            </a:r>
          </a:p>
          <a:p>
            <a:pPr lvl="1"/>
            <a:r>
              <a:rPr lang="en-US" sz="1800" dirty="0"/>
              <a:t>Findings &amp; Implications</a:t>
            </a:r>
          </a:p>
          <a:p>
            <a:r>
              <a:rPr lang="en-US" sz="2200" dirty="0"/>
              <a:t>Conclusion</a:t>
            </a:r>
          </a:p>
          <a:p>
            <a:r>
              <a:rPr lang="en-US" sz="2200" dirty="0"/>
              <a:t>Appendix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14:cNvPr>
              <p14:cNvContentPartPr/>
              <p14:nvPr/>
            </p14:nvContentPartPr>
            <p14:xfrm>
              <a:off x="1889280" y="999312"/>
              <a:ext cx="36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7992DA0-58E4-05C4-71CF-DD740B9964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799280" y="81931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14:cNvPr>
              <p14:cNvContentPartPr/>
              <p14:nvPr/>
            </p14:nvContentPartPr>
            <p14:xfrm>
              <a:off x="2328120" y="962952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82A2257-403C-392A-475C-257A25E958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238120" y="782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029E5DF-95C3-9324-3430-6C07411D941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38160" y="74623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14:cNvPr>
              <p14:cNvContentPartPr/>
              <p14:nvPr/>
            </p14:nvContentPartPr>
            <p14:xfrm>
              <a:off x="2828160" y="926232"/>
              <a:ext cx="3240" cy="50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1E65F16-DA3B-6993-F729-45193F9CF12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738160" y="758232"/>
                <a:ext cx="182880" cy="3407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4954AB-7AA6-D07E-B72B-071B959556E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C9430D9-2989-125F-94DC-1DA2D66BDD5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09380E8-5542-6CEB-DEF5-1F0E98FBDFC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14:cNvPr>
              <p14:cNvContentPartPr/>
              <p14:nvPr/>
            </p14:nvContentPartPr>
            <p14:xfrm>
              <a:off x="7266240" y="2888952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73A9B50E-8658-465E-AEAA-D97CD87BB4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76240" y="2708952"/>
                <a:ext cx="1800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14:cNvPr>
              <p14:cNvContentPartPr/>
              <p14:nvPr/>
            </p14:nvContentPartPr>
            <p14:xfrm>
              <a:off x="6680880" y="2877072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29C95BA-F81E-F99B-4BF2-F62AECFA21A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90880" y="2697072"/>
                <a:ext cx="180000" cy="360000"/>
              </a:xfrm>
              <a:prstGeom prst="rect">
                <a:avLst/>
              </a:prstGeom>
            </p:spPr>
          </p:pic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453241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8DC5-8A48-2A34-31B9-FC8CB168C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26" y="304965"/>
            <a:ext cx="8565109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B44109-938A-7A63-C3A8-FDDB5C799EA5}"/>
              </a:ext>
            </a:extLst>
          </p:cNvPr>
          <p:cNvSpPr txBox="1">
            <a:spLocks/>
          </p:cNvSpPr>
          <p:nvPr/>
        </p:nvSpPr>
        <p:spPr>
          <a:xfrm>
            <a:off x="4277711" y="1379539"/>
            <a:ext cx="7306488" cy="5227472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GB" sz="2400" dirty="0"/>
              <a:t>The survey analysis provides insights into developer demographics, technology usage, and future preferences.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Programming Languages: JavaScript, Python, TypeScript, and HTML/CSS dominate both current usage and future interest.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Databases: PostgreSQL leads in both experience and demand, followed by MySQL, Redis, and SQLite.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Platforms: AWS remains the most widely used and most desired cloud platform.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Web Frameworks: React, Express, and ASP.NET Core show the strongest presence across both dashboards.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Demographics: Most respondents are between 25–34 years old, with the majority holding Bachelor’s or Master’s degrees.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Global Distribution: Responses come from a wide range of countries, with strong representation from the US and Europe.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6795A9-FE70-B337-8B17-B79ACA60A9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926" y="2136507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5385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76FB0-8465-86A8-332A-32CC35A5D2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DC8D-244C-F7EC-5F66-ACB99A7D6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21" y="365125"/>
            <a:ext cx="76478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BCC879F-E713-B75A-D2DE-0953EB0EA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47" y="2262036"/>
            <a:ext cx="3054361" cy="3054361"/>
          </a:xfrm>
          <a:prstGeom prst="rect">
            <a:avLst/>
          </a:prstGeom>
        </p:spPr>
      </p:pic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D35578F-30C9-4905-FD4E-7366FEFAEA7F}"/>
              </a:ext>
            </a:extLst>
          </p:cNvPr>
          <p:cNvSpPr txBox="1">
            <a:spLocks/>
          </p:cNvSpPr>
          <p:nvPr/>
        </p:nvSpPr>
        <p:spPr>
          <a:xfrm>
            <a:off x="4204139" y="1555531"/>
            <a:ext cx="7647864" cy="46214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This project analyses developer survey data to understand global trends in technology usage, preferences, and demographics.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The dataset includes information on programming languages, databases, platforms, web frameworks, and respondent background characteristics.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The goal of the analysis is to identify the most used technologies today and the technologies developers want to get in the future.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GB" sz="2400" dirty="0">
                <a:solidFill>
                  <a:schemeClr val="tx1"/>
                </a:solidFill>
              </a:rPr>
              <a:t>The project also explores demographic patterns such as age distribution, education levels, and geographic representation.</a:t>
            </a:r>
          </a:p>
          <a:p>
            <a:pPr marL="0" indent="0" algn="just">
              <a:buNone/>
            </a:pPr>
            <a:r>
              <a:rPr lang="en-GB" sz="2400" dirty="0">
                <a:solidFill>
                  <a:schemeClr val="tx1"/>
                </a:solidFill>
              </a:rPr>
              <a:t>These insights help highlight how developer experience and preferences vary across different groups.</a:t>
            </a:r>
          </a:p>
          <a:p>
            <a:pPr marL="0" indent="0" algn="just">
              <a:buNone/>
            </a:pPr>
            <a:r>
              <a:rPr lang="en-GB" sz="2400" dirty="0">
                <a:solidFill>
                  <a:schemeClr val="tx1"/>
                </a:solidFill>
              </a:rPr>
              <a:t>The dashboards provide a clear visual summary of key findings.</a:t>
            </a:r>
          </a:p>
          <a:p>
            <a:pPr marL="800100" lvl="1" indent="-342900" algn="just">
              <a:buFont typeface="+mj-lt"/>
              <a:buAutoNum type="arabicPeriod"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40863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1DCFD-8450-17AD-05D4-229BA1C6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B7E7-7534-10CB-A359-88015C285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681037"/>
            <a:ext cx="10571747" cy="685799"/>
          </a:xfrm>
        </p:spPr>
        <p:txBody>
          <a:bodyPr anchor="ctr">
            <a:normAutofit/>
          </a:bodyPr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8C842-232A-AE37-3471-90353781809D}"/>
              </a:ext>
            </a:extLst>
          </p:cNvPr>
          <p:cNvSpPr txBox="1">
            <a:spLocks/>
          </p:cNvSpPr>
          <p:nvPr/>
        </p:nvSpPr>
        <p:spPr>
          <a:xfrm>
            <a:off x="4277709" y="1481959"/>
            <a:ext cx="7076091" cy="5181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GB" sz="2400" dirty="0"/>
              <a:t>The analysis is based on the </a:t>
            </a:r>
            <a:r>
              <a:rPr lang="en-GB" sz="2400" b="1" dirty="0"/>
              <a:t>survey_data_updated.csv </a:t>
            </a:r>
            <a:r>
              <a:rPr lang="en-GB" sz="2400" dirty="0"/>
              <a:t>dataset containing developer responses from many countries.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Data was imported into IBM Cognos Analytics for cleaning, transformation, and visualization.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b="1" dirty="0"/>
              <a:t>Key preprocessing steps included</a:t>
            </a:r>
            <a:r>
              <a:rPr lang="en-GB" sz="24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Removing missing or invalid entries where necessary.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Splitting fields (e.g., languages, databases, platforms) into separate rows for accurate counting.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Creating cleaned datasets for each technology category.</a:t>
            </a:r>
          </a:p>
          <a:p>
            <a:pPr marL="0" indent="0">
              <a:buNone/>
            </a:pPr>
            <a:r>
              <a:rPr lang="en-GB" sz="2400" b="1" dirty="0"/>
              <a:t>Dashboards were developed to explore</a:t>
            </a:r>
            <a:r>
              <a:rPr lang="en-GB" sz="24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Current technology usage (Languages, Databases, Platforms, Web Frameworks).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Future technology preferences (technologies respondents want to work with).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/>
              <a:t>Demographic patterns (Age, Country, Education Level).</a:t>
            </a:r>
          </a:p>
          <a:p>
            <a:pPr marL="0" indent="0">
              <a:buNone/>
            </a:pPr>
            <a:r>
              <a:rPr lang="en-GB" sz="2400" dirty="0"/>
              <a:t>Visualizations were selected to best represent each metric, including bar charts, pie charts, maps, </a:t>
            </a:r>
            <a:r>
              <a:rPr lang="en-GB" sz="2400" dirty="0" err="1"/>
              <a:t>treemaps</a:t>
            </a:r>
            <a:r>
              <a:rPr lang="en-GB" sz="2400" dirty="0"/>
              <a:t>, line charts, and stacked bar charts.</a:t>
            </a:r>
          </a:p>
          <a:p>
            <a:pPr marL="914400" lvl="1" indent="-457200">
              <a:buFont typeface="+mj-lt"/>
              <a:buAutoNum type="arabicPeriod"/>
            </a:pP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0CF71F-8A03-DAC7-4BC2-F05644ECBF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655" y="1831709"/>
            <a:ext cx="3194581" cy="319458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1692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47B35-92B8-C737-3DEB-4A57887A1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9CC39-D393-D59D-E066-37C17FD3C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2053" y="398033"/>
            <a:ext cx="10571747" cy="1091735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0DDB6-5B82-F3F8-80C1-FE555825BAF5}"/>
              </a:ext>
            </a:extLst>
          </p:cNvPr>
          <p:cNvSpPr txBox="1">
            <a:spLocks/>
          </p:cNvSpPr>
          <p:nvPr/>
        </p:nvSpPr>
        <p:spPr>
          <a:xfrm>
            <a:off x="4285075" y="1680153"/>
            <a:ext cx="70687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200" dirty="0"/>
          </a:p>
        </p:txBody>
      </p:sp>
      <p:pic>
        <p:nvPicPr>
          <p:cNvPr id="6" name="Graphic 5" descr="Presentation with pie chart with solid fill">
            <a:extLst>
              <a:ext uri="{FF2B5EF4-FFF2-40B4-BE49-F238E27FC236}">
                <a16:creationId xmlns:a16="http://schemas.microsoft.com/office/drawing/2014/main" id="{1D5615A7-55B9-E0F5-0A84-57A35A57B0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468" y="2101175"/>
            <a:ext cx="2972979" cy="29729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6D1E5C-FB56-616C-9776-6EF59DA07045}"/>
              </a:ext>
            </a:extLst>
          </p:cNvPr>
          <p:cNvSpPr txBox="1"/>
          <p:nvPr/>
        </p:nvSpPr>
        <p:spPr>
          <a:xfrm>
            <a:off x="3808455" y="2228671"/>
            <a:ext cx="741333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GB" sz="2400" dirty="0"/>
              <a:t>The following slides present the key findings from the analysis, including technology usage trends, future preferences, and demographic insights as well as key insights from Job posting from different countries.</a:t>
            </a:r>
            <a:endParaRPr lang="en-US" sz="24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3274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FC4E31-32FC-4A23-CEF9-98F0BB9F1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8334EF5D-2E2A-7FE5-06C6-01ACAB1F4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44" y="-163487"/>
            <a:ext cx="5833456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 JOB POSTINGS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F79416-0AFB-FC80-07E8-3CF2B4E7E798}"/>
              </a:ext>
            </a:extLst>
          </p:cNvPr>
          <p:cNvSpPr txBox="1">
            <a:spLocks/>
          </p:cNvSpPr>
          <p:nvPr/>
        </p:nvSpPr>
        <p:spPr>
          <a:xfrm>
            <a:off x="515007" y="1455661"/>
            <a:ext cx="10489276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In Module 1 you have collected the job posting data using Job API in a file named “</a:t>
            </a:r>
            <a:r>
              <a:rPr lang="en-IN" sz="2400" dirty="0"/>
              <a:t>job-postings.xlsx</a:t>
            </a:r>
            <a:r>
              <a:rPr lang="en-US" sz="2200" dirty="0"/>
              <a:t>”. Present that data using a bar chart here. Order the bar chart in the descending order of the number of job postings.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57CECA-6512-9314-9E1D-E008FE010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8868" y="2501552"/>
            <a:ext cx="5753903" cy="341042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5373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B558-7141-B0CE-D399-712C1073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2CF5900-71B3-70B0-7CF1-4A1C535AD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536" y="120293"/>
            <a:ext cx="570876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POPULAR LANGUAGES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5B1AABA-34AF-B1F5-3C7F-11AEB9E03637}"/>
              </a:ext>
            </a:extLst>
          </p:cNvPr>
          <p:cNvSpPr txBox="1">
            <a:spLocks/>
          </p:cNvSpPr>
          <p:nvPr/>
        </p:nvSpPr>
        <p:spPr>
          <a:xfrm>
            <a:off x="758536" y="1023710"/>
            <a:ext cx="10525371" cy="28627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200" dirty="0"/>
              <a:t>In Module 1 you have collected the job postings data using web scraping in a file named “</a:t>
            </a:r>
            <a:r>
              <a:rPr lang="en-IN" sz="2400" dirty="0"/>
              <a:t>popular-languages.csv</a:t>
            </a:r>
            <a:r>
              <a:rPr lang="en-US" sz="2200" dirty="0"/>
              <a:t>”. Present that data using a bar chart here. Order the bar chart in the descending order of salary.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78D34D-7B68-DF41-B705-9D5B1B69D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542" y="2009962"/>
            <a:ext cx="6772922" cy="447124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5902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27A2E-C667-F6D3-A1E3-47F70603E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539A591-4DF0-3912-FF72-3FD0BD7B9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014" y="64150"/>
            <a:ext cx="10515600" cy="1325563"/>
          </a:xfrm>
        </p:spPr>
        <p:txBody>
          <a:bodyPr/>
          <a:lstStyle/>
          <a:p>
            <a:r>
              <a:rPr lang="en-US" dirty="0"/>
              <a:t>PROGRAMMING LANGUAGE TRENDS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B8C8AD-F58A-1F17-9CA2-E737E1949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4304" y="1389713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9FB3B79-D3E9-99FC-ECF2-28CCBF6475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652642" y="1369912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DFAC5CF-1B58-ABB4-D63B-1D931D572459}"/>
              </a:ext>
            </a:extLst>
          </p:cNvPr>
          <p:cNvSpPr txBox="1">
            <a:spLocks/>
          </p:cNvSpPr>
          <p:nvPr/>
        </p:nvSpPr>
        <p:spPr>
          <a:xfrm>
            <a:off x="845473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&lt;Bar chart of top 10 programming languages for the current year goes here.&gt;</a:t>
            </a:r>
          </a:p>
          <a:p>
            <a:pPr marL="0" indent="0">
              <a:buNone/>
            </a:pPr>
            <a:endParaRPr lang="en-US" sz="2200" dirty="0">
              <a:solidFill>
                <a:schemeClr val="tx1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A9DB0-9EAC-9B25-C7F3-3CE83758128E}"/>
              </a:ext>
            </a:extLst>
          </p:cNvPr>
          <p:cNvSpPr txBox="1">
            <a:spLocks/>
          </p:cNvSpPr>
          <p:nvPr/>
        </p:nvSpPr>
        <p:spPr>
          <a:xfrm>
            <a:off x="6172200" y="2605804"/>
            <a:ext cx="4614949" cy="36703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200" dirty="0">
                <a:solidFill>
                  <a:schemeClr val="tx1"/>
                </a:solidFill>
              </a:rPr>
              <a:t>&lt; Bar chart of top 10 programming languages for the next year goes here.&gt;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B49A77-1A97-557E-4B3F-5FF81EB52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1" y="1891652"/>
            <a:ext cx="6172199" cy="367650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5E23CFA-AAC0-C8A3-6FD1-AA1AFF22D8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370" y="1871851"/>
            <a:ext cx="5890431" cy="36918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84467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7BF14-48B4-018D-63EE-DF24A5A8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44DA4-C4B2-2A92-8A96-C527D8D02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065" y="218209"/>
            <a:ext cx="11471562" cy="1330037"/>
          </a:xfrm>
        </p:spPr>
        <p:txBody>
          <a:bodyPr>
            <a:noAutofit/>
          </a:bodyPr>
          <a:lstStyle/>
          <a:p>
            <a:r>
              <a:rPr lang="en-US" dirty="0"/>
              <a:t>PROGRAMMING LANGUAGE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5DDBB-31B7-4F81-1E76-90009348F1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68166" y="1825625"/>
            <a:ext cx="582725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Python, JavaScript, HTML/CSS, and SQL continue to dominate as the most commonly used languages.</a:t>
            </a:r>
          </a:p>
          <a:p>
            <a:r>
              <a:rPr lang="en-GB" dirty="0"/>
              <a:t>For next year, Python becomes the most preferred language, surpassing JavaScript.</a:t>
            </a:r>
          </a:p>
          <a:p>
            <a:r>
              <a:rPr lang="en-GB" dirty="0"/>
              <a:t>Interest in Rust and Go is growing, but they are still smaller compared to the major languages.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166E7F-5223-7C98-EBC0-E8FA35940F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6586" y="1608133"/>
            <a:ext cx="5181600" cy="435133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Python is becoming the most desirable language for future learning and projects, showing its versatility and strong industry demand.</a:t>
            </a:r>
          </a:p>
          <a:p>
            <a:r>
              <a:rPr lang="en-GB" dirty="0"/>
              <a:t>JavaScript and HTML/CSS remain popular because of their importance in web development.</a:t>
            </a:r>
          </a:p>
          <a:p>
            <a:r>
              <a:rPr lang="en-GB" dirty="0"/>
              <a:t>SQL continues to be essential for data work, confirming the stable demand for database and analytics skills.</a:t>
            </a:r>
          </a:p>
          <a:p>
            <a:r>
              <a:rPr lang="en-GB" dirty="0"/>
              <a:t>Some new programming languages interested some developers, but the</a:t>
            </a:r>
            <a:r>
              <a:rPr lang="de-DE" dirty="0"/>
              <a:t>y will not </a:t>
            </a:r>
            <a:r>
              <a:rPr lang="de-DE" dirty="0" err="1"/>
              <a:t>have</a:t>
            </a:r>
            <a:r>
              <a:rPr lang="de-DE" dirty="0"/>
              <a:t> </a:t>
            </a:r>
            <a:r>
              <a:rPr lang="de-DE" dirty="0" err="1"/>
              <a:t>much</a:t>
            </a:r>
            <a:r>
              <a:rPr lang="de-DE" dirty="0"/>
              <a:t> </a:t>
            </a:r>
            <a:r>
              <a:rPr lang="de-DE" dirty="0" err="1"/>
              <a:t>popularity</a:t>
            </a:r>
            <a:r>
              <a:rPr lang="de-DE" dirty="0"/>
              <a:t>.</a:t>
            </a:r>
            <a:endParaRPr lang="en-GB" dirty="0"/>
          </a:p>
          <a:p>
            <a:endParaRPr lang="en-GB" dirty="0"/>
          </a:p>
          <a:p>
            <a:pPr marL="0" indent="0">
              <a:buNone/>
            </a:pPr>
            <a:endParaRPr lang="en-GB" dirty="0"/>
          </a:p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288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0F35-C02C-0C12-3664-049CAC5AF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B430B-2D6C-26E3-5D00-4D061A25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584" y="428768"/>
            <a:ext cx="10515600" cy="1325563"/>
          </a:xfrm>
        </p:spPr>
        <p:txBody>
          <a:bodyPr/>
          <a:lstStyle/>
          <a:p>
            <a:r>
              <a:rPr lang="en-US" dirty="0"/>
              <a:t>DATABASE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B3FA5-2985-EAFB-8885-6820D4058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62584" y="1503360"/>
            <a:ext cx="22286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Current Year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0AA0B-A66B-F896-65D9-69DDA700D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11814" y="1503361"/>
            <a:ext cx="1758142" cy="5019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Next Year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C632C5-FC2A-4C15-59F2-DF226B6A3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012" y="1875511"/>
            <a:ext cx="5810427" cy="392963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C3A875C-2485-B3DA-B231-DC6C2B9F0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356" y="1857588"/>
            <a:ext cx="6169572" cy="39475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028874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8A6A9C-70D0-119E-38BE-1738DA5AD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97E2B-01DB-9C21-4CF2-1586AB1C3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572944"/>
            <a:ext cx="11457214" cy="975302"/>
          </a:xfrm>
        </p:spPr>
        <p:txBody>
          <a:bodyPr>
            <a:normAutofit fontScale="90000"/>
          </a:bodyPr>
          <a:lstStyle/>
          <a:p>
            <a:r>
              <a:rPr lang="en-US" dirty="0"/>
              <a:t>DATABASE TRENDS -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3EC42F-75A2-FA08-F2B6-EB2817BBF8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The trends show that PostgreSQL, MySQL, and SQLite continue to dominate both current usage and future preferences.</a:t>
            </a:r>
          </a:p>
          <a:p>
            <a:r>
              <a:rPr lang="en-GB" dirty="0"/>
              <a:t>Some databases become less popular next year, especially Oracle, which almost disappears from developers’ future choices.</a:t>
            </a:r>
          </a:p>
          <a:p>
            <a:r>
              <a:rPr lang="en-GB" dirty="0"/>
              <a:t>The overall ranking remains stable, with only small shifts in interest for emerging tools like </a:t>
            </a:r>
            <a:r>
              <a:rPr lang="en-GB" dirty="0" err="1"/>
              <a:t>Supabase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27B10A-E9C3-5B71-0345-782E28BDB3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PostgreSQL, MySQL, and SQLite remain the top databases in both current usage and future preferences.</a:t>
            </a:r>
          </a:p>
          <a:p>
            <a:r>
              <a:rPr lang="en-GB" dirty="0"/>
              <a:t>Oracle significantly drops in popularity and almost disappears from developers’ future choices.</a:t>
            </a:r>
          </a:p>
          <a:p>
            <a:r>
              <a:rPr lang="en-GB" dirty="0" err="1"/>
              <a:t>Supabase</a:t>
            </a:r>
            <a:r>
              <a:rPr lang="en-GB" dirty="0"/>
              <a:t> appears as a perspective  option, but still with low spread.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81259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291F-E27C-74F8-33D3-FF131FC96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B7D73-872E-CFE8-1C38-8422F3838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64183-B387-01E7-21BA-4DA6B1F51815}"/>
              </a:ext>
            </a:extLst>
          </p:cNvPr>
          <p:cNvSpPr txBox="1">
            <a:spLocks/>
          </p:cNvSpPr>
          <p:nvPr/>
        </p:nvSpPr>
        <p:spPr>
          <a:xfrm>
            <a:off x="4131836" y="2386941"/>
            <a:ext cx="7068725" cy="25692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None/>
            </a:pPr>
            <a:r>
              <a:rPr lang="en-GB" sz="2400" dirty="0"/>
              <a:t>The following slides present the interactive dashboards created from the survey data, including technology trends and demographic insights</a:t>
            </a:r>
            <a:endParaRPr lang="en-US" sz="2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9822F7-4A79-5E92-9C6D-8A9769182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7475" y="1901819"/>
            <a:ext cx="3054361" cy="305436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52198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42F0CA-55D1-0835-20D4-03D017A1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93914-A678-A34E-C52A-16D0ADAA2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59" y="0"/>
            <a:ext cx="11793682" cy="683171"/>
          </a:xfrm>
        </p:spPr>
        <p:txBody>
          <a:bodyPr anchor="ctr">
            <a:noAutofit/>
          </a:bodyPr>
          <a:lstStyle/>
          <a:p>
            <a:r>
              <a:rPr lang="en-US" dirty="0"/>
              <a:t>DASHBOARD TAB 1: Current Technology Usage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2CA6BD-25C1-7F1F-AC44-A6B79A3A90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52" y="596150"/>
            <a:ext cx="11288110" cy="62618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297367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129F3-3F0C-17CB-8268-08B74C37D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Insight</a:t>
            </a:r>
            <a:br>
              <a:rPr lang="en-US" dirty="0"/>
            </a:b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B59079-4311-4CCE-BB0A-2E7EF88EF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600200"/>
            <a:ext cx="10515600" cy="4572000"/>
          </a:xfrm>
        </p:spPr>
        <p:txBody>
          <a:bodyPr/>
          <a:lstStyle/>
          <a:p>
            <a:r>
              <a:rPr lang="en-GB" dirty="0"/>
              <a:t>The dashboards highlight the dominant technologies across all categories, showing trends in programming languages, databases, platforms, and web frameworks.</a:t>
            </a:r>
          </a:p>
          <a:p>
            <a:r>
              <a:rPr lang="en-GB" dirty="0"/>
              <a:t>Python, JavaScript, HTML/CSS, and SQL remain the core languages developers rely on.</a:t>
            </a:r>
          </a:p>
          <a:p>
            <a:r>
              <a:rPr lang="en-GB" dirty="0"/>
              <a:t>PostgreSQL, MySQL, and SQLite continue to lead database usage, while Oracle shows a clear decline.</a:t>
            </a:r>
          </a:p>
          <a:p>
            <a:r>
              <a:rPr lang="en-GB" dirty="0"/>
              <a:t>AWS is the primary cloud platform, and Node.js with React dominate in the web framework field.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415481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8F23D-B8D7-D0E4-EDC5-E0F023884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F933A-3681-3D82-68EF-62EC07822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35" y="110966"/>
            <a:ext cx="11079097" cy="404041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DASHBOARD TAB 2: Future Technology Trends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7C97481-A552-E093-F107-B356877C1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35" y="524232"/>
            <a:ext cx="11183007" cy="622280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48496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CAC02-4E2E-5E12-F1F9-BE26DEDC9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16" y="585842"/>
            <a:ext cx="10589172" cy="938158"/>
          </a:xfrm>
        </p:spPr>
        <p:txBody>
          <a:bodyPr>
            <a:normAutofit fontScale="90000"/>
          </a:bodyPr>
          <a:lstStyle/>
          <a:p>
            <a:r>
              <a:rPr lang="en-US" dirty="0"/>
              <a:t>Dashboard Insight</a:t>
            </a:r>
            <a:br>
              <a:rPr lang="en-US" dirty="0"/>
            </a:b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70C4D7-7863-060A-E5D3-842F391A50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1716" y="1421524"/>
            <a:ext cx="10670628" cy="4572000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The overall trends remain consistent with the previous dashboard: the same core technologies dominate across all categories.</a:t>
            </a:r>
          </a:p>
          <a:p>
            <a:r>
              <a:rPr lang="en-GB" b="1" dirty="0"/>
              <a:t>Programming Languages:</a:t>
            </a:r>
            <a:r>
              <a:rPr lang="en-GB" dirty="0"/>
              <a:t> JavaScript, TypeScript, and Python remain the top choices developers want to work with, with Rust gaining noticeable interest.</a:t>
            </a:r>
          </a:p>
          <a:p>
            <a:r>
              <a:rPr lang="en-GB" b="1" dirty="0"/>
              <a:t>Databases:</a:t>
            </a:r>
            <a:r>
              <a:rPr lang="en-GB" dirty="0"/>
              <a:t> PostgreSQL continues to lead by a large part of users, while Redis and SQLite show strong future demand.</a:t>
            </a:r>
          </a:p>
          <a:p>
            <a:r>
              <a:rPr lang="en-GB" b="1" dirty="0"/>
              <a:t>Platforms:</a:t>
            </a:r>
            <a:r>
              <a:rPr lang="en-GB" dirty="0"/>
              <a:t> AWS remains the most preferred cloud platform, followed by Google Cloud and Azure, confirming the stability of cloud ecosystem trends.</a:t>
            </a:r>
          </a:p>
          <a:p>
            <a:r>
              <a:rPr lang="en-GB" b="1" dirty="0"/>
              <a:t>Web Frameworks:</a:t>
            </a:r>
            <a:r>
              <a:rPr lang="en-GB" dirty="0"/>
              <a:t> React and Node.js continue to dominate developer preferences, with Next.js and Vue.js also showing strong interest.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21365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A10D3-267F-7A90-5160-775BFEBCA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C0C82-5F1A-F7B1-2C56-5C08240C1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1353800" cy="725213"/>
          </a:xfrm>
        </p:spPr>
        <p:txBody>
          <a:bodyPr anchor="ctr">
            <a:normAutofit/>
          </a:bodyPr>
          <a:lstStyle/>
          <a:p>
            <a:r>
              <a:rPr lang="en-US" dirty="0"/>
              <a:t>DASHBOARD TAB 3: Demographics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AC65B-4207-46F5-6A74-635A5ED829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783" y="654501"/>
            <a:ext cx="9890234" cy="554899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05636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DE3C27-BB83-AA8C-C427-682B42EDA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Dashboard Insight</a:t>
            </a:r>
            <a:br>
              <a:rPr lang="en-US" dirty="0"/>
            </a:b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1274E-C0D7-A743-EFC5-ACCB649260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600200"/>
            <a:ext cx="10515600" cy="4572000"/>
          </a:xfrm>
        </p:spPr>
        <p:txBody>
          <a:bodyPr>
            <a:normAutofit lnSpcReduction="10000"/>
          </a:bodyPr>
          <a:lstStyle/>
          <a:p>
            <a:r>
              <a:rPr lang="en-GB" dirty="0"/>
              <a:t>The majority of respondents are between </a:t>
            </a:r>
            <a:r>
              <a:rPr lang="en-GB" b="1" dirty="0"/>
              <a:t>25–34 years old</a:t>
            </a:r>
            <a:r>
              <a:rPr lang="en-GB" dirty="0"/>
              <a:t>, making it the dominant age group in the survey.</a:t>
            </a:r>
          </a:p>
          <a:p>
            <a:r>
              <a:rPr lang="en-GB" dirty="0"/>
              <a:t>Most participants hold a </a:t>
            </a:r>
            <a:r>
              <a:rPr lang="en-GB" b="1" dirty="0"/>
              <a:t>Bachelor’s degree</a:t>
            </a:r>
            <a:r>
              <a:rPr lang="en-GB" dirty="0"/>
              <a:t>, followed by Master’s degree holders, showing a generally well‑educated developer population.</a:t>
            </a:r>
          </a:p>
          <a:p>
            <a:r>
              <a:rPr lang="en-GB" dirty="0"/>
              <a:t>The geographic distribution is around </a:t>
            </a:r>
            <a:r>
              <a:rPr lang="en-GB" b="1" dirty="0"/>
              <a:t>Europe and North America</a:t>
            </a:r>
            <a:r>
              <a:rPr lang="en-GB" dirty="0"/>
              <a:t>, which together represent the largest share of respondents.</a:t>
            </a:r>
          </a:p>
          <a:p>
            <a:r>
              <a:rPr lang="en-GB" dirty="0"/>
              <a:t>The combined demographic patterns indicate that the survey mainly reflects the perspectives of young, highly educated developers from West Europe and North America.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84034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62C0A-56EF-B349-A097-27B4D460D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8769-531F-C6A5-406F-D1C3D2805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DISCUSSION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1F45ECC1-C956-CADF-DDFD-F54C6608E4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43282" y="2348628"/>
            <a:ext cx="3054361" cy="3054361"/>
          </a:xfrm>
          <a:prstGeom prst="rect">
            <a:avLst/>
          </a:prstGeom>
          <a:noFill/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7EF50-003F-6BB0-4367-42BB884C7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4759" y="1513490"/>
            <a:ext cx="6519041" cy="4663473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buNone/>
            </a:pPr>
            <a:r>
              <a:rPr lang="en-GB" dirty="0"/>
              <a:t>The dashboards show that technology trends across programming languages, databases, platforms, and web frameworks are highly stable. The same core technologies dominate both current usage and future preferences, indicating a stable and consistent developer ecosystem. </a:t>
            </a:r>
          </a:p>
          <a:p>
            <a:pPr marL="0" indent="0" algn="just">
              <a:buNone/>
            </a:pPr>
            <a:r>
              <a:rPr lang="en-GB" dirty="0"/>
              <a:t>Python, JavaScript, SQL, and HTML/CSS remain central skills, while PostgreSQL, MySQL, and SQLite continue to lead the database landscape. AWS is the primary cloud platform, React and Node.js remain big share in web development.</a:t>
            </a:r>
          </a:p>
          <a:p>
            <a:pPr marL="0" indent="0" algn="just">
              <a:buNone/>
            </a:pPr>
            <a:r>
              <a:rPr lang="en-GB" dirty="0"/>
              <a:t>Demographic insights reveal that the survey mainly represents young, educated developers from Europe and North America. Overall, the dashboards highlight a technology environment where established tools maintain their leadership, while emerging technologies like Rust, Go, and </a:t>
            </a:r>
            <a:r>
              <a:rPr lang="en-GB" dirty="0" err="1"/>
              <a:t>Supabase</a:t>
            </a:r>
            <a:r>
              <a:rPr lang="en-GB" dirty="0"/>
              <a:t> show early but growing interest.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73335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05330-0589-A550-601A-037CA416F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A8902-AF46-DDE8-D792-7940E18A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FINDINGS &amp; IMPLICATIONS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96B89C-35B9-C514-4E9C-FCBE8D68D3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13816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Core technologies (Python, JavaScript, SQL, PostgreSQL, AWS, React/Node.js) dominate across all dashboards.</a:t>
            </a:r>
          </a:p>
          <a:p>
            <a:r>
              <a:rPr lang="en-GB" dirty="0"/>
              <a:t>Future preferences closely mirror current usage, showing stable </a:t>
            </a:r>
            <a:r>
              <a:rPr lang="en-GB" dirty="0" err="1"/>
              <a:t>longterm</a:t>
            </a:r>
            <a:r>
              <a:rPr lang="en-GB" dirty="0"/>
              <a:t> trends.</a:t>
            </a:r>
          </a:p>
          <a:p>
            <a:r>
              <a:rPr lang="en-GB" dirty="0"/>
              <a:t>Demographics show a young, well‑educated, Europe and North America developer population.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DBBA5A-826D-FFFD-F1BE-92269842D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Implications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GB" dirty="0"/>
              <a:t>The tech ecosystem is mature and stable, with established tools remaining highly relevant.</a:t>
            </a:r>
          </a:p>
          <a:p>
            <a:r>
              <a:rPr lang="en-GB" dirty="0"/>
              <a:t>Growth in modern tools (Rust, Go, </a:t>
            </a:r>
            <a:r>
              <a:rPr lang="en-GB" dirty="0" err="1"/>
              <a:t>Supabase</a:t>
            </a:r>
            <a:r>
              <a:rPr lang="en-GB" dirty="0"/>
              <a:t>) suggests gradual innovation but not major shifts yet.</a:t>
            </a:r>
          </a:p>
          <a:p>
            <a:r>
              <a:rPr lang="en-GB" dirty="0"/>
              <a:t>Insights mainly reflect trends within Western developer communities, influencing which technologies appear dominant.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65637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3A16F-6AB5-5C0B-5466-65B2A6AE81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E978FF3-BC93-079A-1687-DD4786B81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CONCLUSION</a:t>
            </a:r>
          </a:p>
        </p:txBody>
      </p:sp>
      <p:pic>
        <p:nvPicPr>
          <p:cNvPr id="13" name="Content Placeholder 5">
            <a:extLst>
              <a:ext uri="{FF2B5EF4-FFF2-40B4-BE49-F238E27FC236}">
                <a16:creationId xmlns:a16="http://schemas.microsoft.com/office/drawing/2014/main" id="{CD985AE9-0D12-3398-B9B7-4395CABF1707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125967" y="2113896"/>
            <a:ext cx="3054361" cy="305436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E75918E-509D-16F8-F478-FA41759FEFE9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The analysis shows a clear and consistent technology landscape, where established tools continue to lead and future preferences confirm these patterns.</a:t>
            </a:r>
          </a:p>
          <a:p>
            <a:r>
              <a:rPr lang="en-GB" dirty="0"/>
              <a:t>Across all dashboards, the stability of trends suggests that developers rely on a mature, well‑defined ecosystem with only gradual shifts toward newer technologies.</a:t>
            </a:r>
          </a:p>
          <a:p>
            <a:r>
              <a:rPr lang="en-GB" dirty="0"/>
              <a:t>Overall, the dashboards provide a clear understanding of current and future tech directions.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03782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D1598F-DBE3-7B78-D1F9-0BA7F7DC7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4A3B939-6057-23B6-25B3-E33A2D205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en-US" dirty="0"/>
              <a:t>APPENDIX</a:t>
            </a:r>
          </a:p>
        </p:txBody>
      </p:sp>
      <p:pic>
        <p:nvPicPr>
          <p:cNvPr id="11" name="Content Placeholder 3">
            <a:extLst>
              <a:ext uri="{FF2B5EF4-FFF2-40B4-BE49-F238E27FC236}">
                <a16:creationId xmlns:a16="http://schemas.microsoft.com/office/drawing/2014/main" id="{E8E550E5-7A15-A106-D083-8C1433A790A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055857" y="1849823"/>
            <a:ext cx="3194581" cy="3194581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E40FF55-AE57-CB43-454D-CEFBE080CE8E}"/>
              </a:ext>
            </a:extLst>
          </p:cNvPr>
          <p:cNvSpPr txBox="1">
            <a:spLocks/>
          </p:cNvSpPr>
          <p:nvPr/>
        </p:nvSpPr>
        <p:spPr>
          <a:xfrm>
            <a:off x="4544291" y="1825625"/>
            <a:ext cx="680950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262626"/>
                </a:solidFill>
                <a:latin typeface="IBM Plex Sans" panose="020B050305020300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525252"/>
                </a:solidFill>
                <a:latin typeface="IBM Plex Sans" panose="020B050305020300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Include any relevant additional charts, or tables that you may have created during the analysis phase.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01586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18"/>
  <p:tag name="ARTICULATE_DESIGN_ID_SLIDE_TEMPLATE_SKILL_NETWORK" val="762xjmeN"/>
  <p:tag name="ARTICULATE_DESIGN_ID_IBM DEVELOPER 2018 WHITE BACKGROUND" val="AcyDFp8V"/>
  <p:tag name="ARTICULATE_SLIDE_THUMBNAIL_REFRESH" val="1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LIDE_TEMPLATE_skill_network">
  <a:themeElements>
    <a:clrScheme name="IBM Skills Network">
      <a:dk1>
        <a:srgbClr val="262626"/>
      </a:dk1>
      <a:lt1>
        <a:srgbClr val="525252"/>
      </a:lt1>
      <a:dk2>
        <a:srgbClr val="FFFFFF"/>
      </a:dk2>
      <a:lt2>
        <a:srgbClr val="FFFFFF"/>
      </a:lt2>
      <a:accent1>
        <a:srgbClr val="6C4DEA"/>
      </a:accent1>
      <a:accent2>
        <a:srgbClr val="82CFFF"/>
      </a:accent2>
      <a:accent3>
        <a:srgbClr val="FF7EB6"/>
      </a:accent3>
      <a:accent4>
        <a:srgbClr val="3DDBD9"/>
      </a:accent4>
      <a:accent5>
        <a:srgbClr val="5B9BD5"/>
      </a:accent5>
      <a:accent6>
        <a:srgbClr val="525252"/>
      </a:accent6>
      <a:hlink>
        <a:srgbClr val="C1C7CD"/>
      </a:hlink>
      <a:folHlink>
        <a:srgbClr val="DA1E28"/>
      </a:folHlink>
    </a:clrScheme>
    <a:fontScheme name="IBM Skills Network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BM Skills Network PPT Template 01.2023.pptx" id="{565886F7-76CC-4370-877F-2511E1EB1B28}" vid="{AD061E48-3596-4052-9172-46F1919207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5445547-4CD8-432E-8B58-E443FD17F88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9" ma:contentTypeDescription="Create a new document." ma:contentTypeScope="" ma:versionID="d7279d4efbac013e02c1e816bc7f7c13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0a3fd1dbe83fc08387abb87098562ef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AWBlink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bfc8dc1-ab14-4a6b-8a4a-9f7f0b948a9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AWBlink" ma:index="25" nillable="true" ma:displayName="AWB link" ma:description="Author Workbench link" ma:format="Dropdown" ma:internalName="AWBlink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02edd55d-11a0-43df-8094-42adcb6055ca}" ma:internalName="TaxCatchAll" ma:showField="CatchAllData" ma:web="f80a141d-92ca-4d3d-9308-f7e7b1d44ce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5be751-a274-42e8-93fb-f39d3b9bccc8">
      <Terms xmlns="http://schemas.microsoft.com/office/infopath/2007/PartnerControls"/>
    </lcf76f155ced4ddcb4097134ff3c332f>
    <TaxCatchAll xmlns="f80a141d-92ca-4d3d-9308-f7e7b1d44ce8" xsi:nil="true"/>
    <AWBlink xmlns="155be751-a274-42e8-93fb-f39d3b9bccc8" xsi:nil="true"/>
  </documentManagement>
</p:properties>
</file>

<file path=customXml/itemProps1.xml><?xml version="1.0" encoding="utf-8"?>
<ds:datastoreItem xmlns:ds="http://schemas.openxmlformats.org/officeDocument/2006/customXml" ds:itemID="{BEAB06F8-DBB4-44C7-AF84-8B098C8B03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5be751-a274-42e8-93fb-f39d3b9bccc8"/>
    <ds:schemaRef ds:uri="f80a141d-92ca-4d3d-9308-f7e7b1d44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4DA07C5-A406-4A0D-B3E6-3856C94AC7F3}">
  <ds:schemaRefs>
    <ds:schemaRef ds:uri="http://purl.org/dc/dcmitype/"/>
    <ds:schemaRef ds:uri="155be751-a274-42e8-93fb-f39d3b9bccc8"/>
    <ds:schemaRef ds:uri="f80a141d-92ca-4d3d-9308-f7e7b1d44ce8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1489</Words>
  <Application>Microsoft Office PowerPoint</Application>
  <PresentationFormat>Widescreen</PresentationFormat>
  <Paragraphs>121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Calibri</vt:lpstr>
      <vt:lpstr>Helv</vt:lpstr>
      <vt:lpstr>IBM Plex Mono</vt:lpstr>
      <vt:lpstr>IBM Plex Mono Medium</vt:lpstr>
      <vt:lpstr>IBM Plex Sans</vt:lpstr>
      <vt:lpstr>IBM Plex Sans SemiBold</vt:lpstr>
      <vt:lpstr>SLIDE_TEMPLATE_skill_network</vt:lpstr>
      <vt:lpstr>Data Analyst Capstone Project Report </vt:lpstr>
      <vt:lpstr>PowerPoint Presentation</vt:lpstr>
      <vt:lpstr>EXECUTIVE SUMMARY</vt:lpstr>
      <vt:lpstr>INTRODUCTION</vt:lpstr>
      <vt:lpstr>METHODOLOGY</vt:lpstr>
      <vt:lpstr>Results</vt:lpstr>
      <vt:lpstr> JOB POSTINGS</vt:lpstr>
      <vt:lpstr>POPULAR LANGUAGES</vt:lpstr>
      <vt:lpstr>PROGRAMMING LANGUAGE TRENDS</vt:lpstr>
      <vt:lpstr>PROGRAMMING LANGUAGE TRENDS - FINDINGS &amp; IMPLICATIONS</vt:lpstr>
      <vt:lpstr>DATABASE TRENDS</vt:lpstr>
      <vt:lpstr>DATABASE TRENDS - FINDINGS &amp; IMPLICATIONS</vt:lpstr>
      <vt:lpstr>DASHBOARD</vt:lpstr>
      <vt:lpstr>DASHBOARD TAB 1: Current Technology Usage</vt:lpstr>
      <vt:lpstr>Dashboard Insight </vt:lpstr>
      <vt:lpstr>DASHBOARD TAB 2: Future Technology Trends</vt:lpstr>
      <vt:lpstr>Dashboard Insight </vt:lpstr>
      <vt:lpstr>DASHBOARD TAB 3: Demographics</vt:lpstr>
      <vt:lpstr>Dashboard Insight </vt:lpstr>
      <vt:lpstr>DISCUSSION</vt:lpstr>
      <vt:lpstr>OVERALL FINDINGS &amp; IMPLICATIONS</vt:lpstr>
      <vt:lpstr>CONCLUSION</vt:lpstr>
      <vt:lpstr>APPENDIX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Tori Sleeper</dc:creator>
  <cp:lastModifiedBy>Egor Porotikov</cp:lastModifiedBy>
  <cp:revision>6</cp:revision>
  <dcterms:created xsi:type="dcterms:W3CDTF">2024-10-30T05:40:03Z</dcterms:created>
  <dcterms:modified xsi:type="dcterms:W3CDTF">2026-05-25T10:53:03Z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  <property fmtid="{D5CDD505-2E9C-101B-9397-08002B2CF9AE}" pid="3" name="MediaServiceImageTags">
    <vt:lpwstr/>
  </property>
  <property fmtid="{D5CDD505-2E9C-101B-9397-08002B2CF9AE}" pid="4" name="ArticulateGUID">
    <vt:lpwstr>07C438A6-8092-445C-AC0D-AE1422093206</vt:lpwstr>
  </property>
  <property fmtid="{D5CDD505-2E9C-101B-9397-08002B2CF9AE}" pid="5" name="ArticulatePath">
    <vt:lpwstr>https://skilluptech.sharepoint.com/sites/Coursera/Shared Documents/General/PPT template/IBM Skills Network PPT Template 01.2023</vt:lpwstr>
  </property>
</Properties>
</file>